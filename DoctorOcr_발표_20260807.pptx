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27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의사 손글씨 처방전 OCR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86DE"/>
                </a:solidFill>
                <a:latin typeface="맑은 고딕"/>
              </a:rPr>
              <a:t>재현 · 검증 · 개선 — 98.8%의 진실과 재도전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663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맑은 고딕"/>
              </a:rPr>
              <a:t>야간대학원 연구진행 발표  |  2026. 08.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0B0"/>
                </a:solidFill>
                <a:latin typeface="맑은 고딕"/>
              </a:rPr>
              <a:t>RxHandBD (Kaggle) 5,578장  ·  CRNN 계열  ·  v1 → v2.2 → v3 계보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문제 정의 — 의사 필기 처방전은 왜 어려운가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E1E2E"/>
                </a:solidFill>
              </a:rPr>
              <a:t/>
            </a:r>
            <a:r>
              <a:rPr sz="1600" b="0">
                <a:solidFill>
                  <a:srgbClr val="1E1E2E"/>
                </a:solidFill>
                <a:latin typeface="맑은 고딕"/>
              </a:rPr>
              <a:t>RxHandBD: 실제 의사 처방전 스캔 5,578장, 라벨은 1,788개 고유 단어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E86DE"/>
                </a:solidFill>
              </a:rPr>
              <a:t/>
            </a:r>
            <a:r>
              <a:rPr sz="1600" b="1">
                <a:solidFill>
                  <a:srgbClr val="1E1E2E"/>
                </a:solidFill>
                <a:latin typeface="맑은 고딕"/>
              </a:rPr>
              <a:t>▶ 롱테일 분포: 고유 라벨의 64%가 '딱 1번' 등장 → 모델이 거의 못 본 단어가 절반 이상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E"/>
                </a:solidFill>
              </a:rPr>
              <a:t/>
            </a:r>
            <a:r>
              <a:rPr sz="1600" b="0">
                <a:solidFill>
                  <a:srgbClr val="1E1E2E"/>
                </a:solidFill>
                <a:latin typeface="맑은 고딕"/>
              </a:rPr>
              <a:t>키워드: 의약품명 (Napa, Devixil, Ecosprin Plus …) — 인식은 커녕 철자 하나 틀려도 위험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E"/>
                </a:solidFill>
              </a:rPr>
              <a:t/>
            </a:r>
            <a:r>
              <a:rPr sz="1600" b="0">
                <a:solidFill>
                  <a:srgbClr val="1E1E2E"/>
                </a:solidFill>
                <a:latin typeface="맑은 고딕"/>
              </a:rPr>
              <a:t>인식 정확도 지표: exact match (단어 전체 일치) + CER (문자 오류율)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E"/>
                </a:solidFill>
              </a:rPr>
              <a:t/>
            </a:r>
            <a:r>
              <a:rPr sz="1600" b="0">
                <a:solidFill>
                  <a:srgbClr val="1E1E2E"/>
                </a:solidFill>
                <a:latin typeface="맑은 고딕"/>
              </a:rPr>
              <a:t>이미지 단위 평가가 아니라 '단어' 단위 평가가 실제 의료 활용에 맞음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94960"/>
            <a:ext cx="3383280" cy="1005840"/>
          </a:xfrm>
          <a:prstGeom prst="rect">
            <a:avLst/>
          </a:prstGeom>
          <a:solidFill>
            <a:srgbClr val="24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4681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5,578장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데이터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5394960"/>
            <a:ext cx="3383280" cy="10058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54681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1,788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5897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고유 라벨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5394960"/>
            <a:ext cx="3383280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54681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64%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999" y="5897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1회 등장 (롱테일)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Architecture — CRNN: 이미지를 문자 시퀀스로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E1E2E"/>
                </a:solidFill>
              </a:rPr>
              <a:t>O </a:t>
            </a:r>
            <a:r>
              <a:rPr sz="1600" b="0">
                <a:solidFill>
                  <a:srgbClr val="1E1E2E"/>
                </a:solidFill>
                <a:latin typeface="맑은 고딕"/>
              </a:rPr>
              <a:t>CNN 인코더: 이미지 → 특징맵 (어디에 뭐가 그려졌는가)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E"/>
                </a:solidFill>
              </a:rPr>
              <a:t>O </a:t>
            </a:r>
            <a:r>
              <a:rPr sz="1600" b="0">
                <a:solidFill>
                  <a:srgbClr val="1E1E2E"/>
                </a:solidFill>
                <a:latin typeface="맑은 고딕"/>
              </a:rPr>
              <a:t>BiLSTM: 특징을 '왼쪽→오른쪽, 오른쪽→왼쪽' 시퀀스로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E"/>
                </a:solidFill>
              </a:rPr>
              <a:t>O </a:t>
            </a:r>
            <a:r>
              <a:rPr sz="1600" b="0">
                <a:solidFill>
                  <a:srgbClr val="1E1E2E"/>
                </a:solidFill>
                <a:latin typeface="맑은 고딕"/>
              </a:rPr>
              <a:t>디코더가 문자열을 만들며 시퀀스를 단어로 변환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6C757D"/>
                </a:solidFill>
              </a:rPr>
              <a:t/>
            </a:r>
            <a:r>
              <a:rPr sz="1600" b="0">
                <a:solidFill>
                  <a:srgbClr val="1E1E2E"/>
                </a:solidFill>
                <a:latin typeface="맑은 고딕"/>
              </a:rPr>
              <a:t>CRNN(Shi et al. 2015)은 손글씨/문자인식의 고전적 표준 구조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6C757D"/>
                </a:solidFill>
              </a:rPr>
              <a:t/>
            </a:r>
            <a:r>
              <a:rPr sz="1600" b="0">
                <a:solidFill>
                  <a:srgbClr val="1E1E2E"/>
                </a:solidFill>
                <a:latin typeface="맑은 고딕"/>
              </a:rPr>
              <a:t>→ 왜 순서(문자열)를 다루는 모델이 필요한가: 'Nap' vs 'Npa'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0" y="1463040"/>
            <a:ext cx="1737360" cy="1097280"/>
          </a:xfrm>
          <a:prstGeom prst="rect">
            <a:avLst/>
          </a:prstGeom>
          <a:solidFill>
            <a:srgbClr val="D5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16916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1E2E"/>
                </a:solidFill>
                <a:latin typeface="맑은 고딕"/>
              </a:rPr>
              <a:t>CNN
인코더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0" y="1463040"/>
            <a:ext cx="1828800" cy="1097280"/>
          </a:xfrm>
          <a:prstGeom prst="rect">
            <a:avLst/>
          </a:prstGeom>
          <a:solidFill>
            <a:srgbClr val="FFE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16916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1E2E"/>
                </a:solidFill>
                <a:latin typeface="맑은 고딕"/>
              </a:rPr>
              <a:t>BiLSTM
시퀀스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1234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1E2E"/>
                </a:solidFill>
                <a:latin typeface="맑은 고딕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1234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1E2E"/>
                </a:solidFill>
                <a:latin typeface="맑은 고딕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2834640"/>
            <a:ext cx="3840480" cy="914400"/>
          </a:xfrm>
          <a:prstGeom prst="rect">
            <a:avLst/>
          </a:prstGeom>
          <a:solidFill>
            <a:srgbClr val="D6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301752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1E2E"/>
                </a:solidFill>
                <a:latin typeface="맑은 고딕"/>
              </a:rPr>
              <a:t>디코더 → 문자열
(CTC or Attention)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931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0392B"/>
                </a:solidFill>
                <a:latin typeface="맑은 고딕"/>
              </a:rPr>
              <a:t>디코더 방식이 이 연구의 핵심 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재현 — 기존 파이프라인을 그대로 돌렸더니 '98.8%'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E1E2E"/>
                </a:solidFill>
              </a:rPr>
              <a:t/>
            </a:r>
            <a:r>
              <a:rPr sz="1600" b="0">
                <a:solidFill>
                  <a:srgbClr val="1E1E2E"/>
                </a:solidFill>
                <a:latin typeface="맑은 고딕"/>
              </a:rPr>
              <a:t>v1 → v2 → v2.2 계보의 CRNN 코드를 로컬 GPU에서 재현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0392B"/>
                </a:solidFill>
              </a:rPr>
              <a:t/>
            </a:r>
            <a:r>
              <a:rPr sz="1600" b="1">
                <a:solidFill>
                  <a:srgbClr val="1E1E2E"/>
                </a:solidFill>
                <a:latin typeface="맑은 고딕"/>
              </a:rPr>
              <a:t>▶ v2.2(CTC) + 증강2배 실험이 '원본 val에서 정확도 98.8%, PASS'로 기록됨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0392B"/>
                </a:solidFill>
              </a:rPr>
              <a:t/>
            </a:r>
            <a:r>
              <a:rPr sz="1600" b="0">
                <a:solidFill>
                  <a:srgbClr val="1E1E2E"/>
                </a:solidFill>
                <a:latin typeface="맑은 고딕"/>
              </a:rPr>
              <a:t>한편 클린 기준(리키지 제거) 재측정에서는 전부 FAIL (35.8% / 37.9% / 36.4%)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6C757D"/>
                </a:solidFill>
              </a:rPr>
              <a:t/>
            </a:r>
            <a:r>
              <a:rPr sz="1600" b="0">
                <a:solidFill>
                  <a:srgbClr val="1E1E2E"/>
                </a:solidFill>
                <a:latin typeface="맑은 고딕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206240"/>
            <a:ext cx="10972800" cy="2103120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맑은 고딕"/>
              </a:rPr>
              <a:t>핵심 의심 — 이미지 단위 리키지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E1E2E"/>
                </a:solidFill>
              </a:rPr>
              <a:t/>
            </a:r>
            <a:r>
              <a:rPr sz="1600" b="0">
                <a:solidFill>
                  <a:srgbClr val="1E1E2E"/>
                </a:solidFill>
                <a:latin typeface="맑은 고딕"/>
              </a:rPr>
              <a:t>기존 split은 '증강 포함 전체'를 80/20으로 나눔 → val 1,116장 중 약 890장(80%)이 train에 포함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0392B"/>
                </a:solidFill>
              </a:rPr>
              <a:t/>
            </a:r>
            <a:r>
              <a:rPr sz="1600" b="1">
                <a:solidFill>
                  <a:srgbClr val="1E1E2E"/>
                </a:solidFill>
                <a:latin typeface="맑은 고딕"/>
              </a:rPr>
              <a:t>→ '98.8%'는 검증 이미지를 이미 학습한 모델을 측정한 수치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검증 — 리키지를 차단하고 다시 측정했다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E1E2E"/>
                </a:solidFill>
              </a:rPr>
              <a:t/>
            </a:r>
            <a:r>
              <a:rPr sz="1600" b="0">
                <a:solidFill>
                  <a:srgbClr val="1E1E2E"/>
                </a:solidFill>
                <a:latin typeface="맑은 고딕"/>
              </a:rPr>
              <a:t>클린 스플릿 설계: 원본을 80/20으로 먼저 분리 → train에만 증강/합성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E"/>
                </a:solidFill>
              </a:rPr>
              <a:t/>
            </a:r>
            <a:r>
              <a:rPr sz="1600" b="0">
                <a:solidFill>
                  <a:srgbClr val="1E1E2E"/>
                </a:solidFill>
                <a:latin typeface="맑은 고딕"/>
              </a:rPr>
              <a:t>val 1,116장이 어떤 실험군의 train에도 1장도 포함되지 않음을 스크립트로 대조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E"/>
                </a:solidFill>
              </a:rPr>
              <a:t/>
            </a:r>
            <a:r>
              <a:rPr sz="1600" b="0">
                <a:solidFill>
                  <a:srgbClr val="1E1E2E"/>
                </a:solidFill>
                <a:latin typeface="맑은 고딕"/>
              </a:rPr>
              <a:t>리키지 가드: train∩val &gt; 0 이면 학습 중단하도록 파이프라인 보강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E86DE"/>
                </a:solidFill>
              </a:rPr>
              <a:t/>
            </a:r>
            <a:r>
              <a:rPr sz="1600" b="1">
                <a:solidFill>
                  <a:srgbClr val="1E1E2E"/>
                </a:solidFill>
                <a:latin typeface="맑은 고딕"/>
              </a:rPr>
              <a:t>▶ 결과: 전 실험군 FAIL — 증강 효과는 +2.2p에 불과 (35.8→37.9%)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94960"/>
            <a:ext cx="3383280" cy="914400"/>
          </a:xfrm>
          <a:prstGeom prst="rect">
            <a:avLst/>
          </a:prstGeom>
          <a:solidFill>
            <a:srgbClr val="2E4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exp1 원본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맑은 고딕"/>
              </a:rPr>
              <a:t>35.8%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97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A80"/>
                </a:solidFill>
                <a:latin typeface="맑은 고딕"/>
              </a:rPr>
              <a:t>FAIL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19" y="5394960"/>
            <a:ext cx="3383280" cy="914400"/>
          </a:xfrm>
          <a:prstGeom prst="rect">
            <a:avLst/>
          </a:prstGeom>
          <a:solidFill>
            <a:srgbClr val="2E4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5486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exp2 증강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19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맑은 고딕"/>
              </a:rPr>
              <a:t>37.9%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5897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A80"/>
                </a:solidFill>
                <a:latin typeface="맑은 고딕"/>
              </a:rPr>
              <a:t>FAIL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58" y="5394960"/>
            <a:ext cx="3383280" cy="914400"/>
          </a:xfrm>
          <a:prstGeom prst="rect">
            <a:avLst/>
          </a:prstGeom>
          <a:solidFill>
            <a:srgbClr val="2E4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38" y="5486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exp3 +합성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58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맑은 고딕"/>
              </a:rPr>
              <a:t>36.4%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8" y="5897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A80"/>
                </a:solidFill>
                <a:latin typeface="맑은 고딕"/>
              </a:rPr>
              <a:t>FAIL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회고 — '가장 진보' vs '가장 잘 도는' 디코더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E1E2E"/>
                </a:solidFill>
              </a:rPr>
              <a:t/>
            </a:r>
            <a:r>
              <a:rPr sz="1600" b="0">
                <a:solidFill>
                  <a:srgbClr val="1E1E2E"/>
                </a:solidFill>
                <a:latin typeface="맑은 고딕"/>
              </a:rPr>
              <a:t>v2.2(CTC): 정렬(alignment) 학습 불필요 → 견고하지만, 표현력이 단순(1층 linear)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E"/>
                </a:solidFill>
              </a:rPr>
              <a:t/>
            </a:r>
            <a:r>
              <a:rPr sz="1600" b="0">
                <a:solidFill>
                  <a:srgbClr val="1E1E2E"/>
                </a:solidFill>
                <a:latin typeface="맑은 고딕"/>
              </a:rPr>
              <a:t>v2.1(Attention): multi-head 8 + beam search — 더 표현력 있으나 데이터가 많아야 학습됨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6C757D"/>
                </a:solidFill>
              </a:rPr>
              <a:t/>
            </a:r>
            <a:r>
              <a:rPr sz="1600" b="0">
                <a:solidFill>
                  <a:srgbClr val="1E1E2E"/>
                </a:solidFill>
                <a:latin typeface="맑은 고딕"/>
              </a:rPr>
              <a:t>모델 계보를 돌아보면: 이론적으론 attention이 더 진보, 실제론 CTC가 먼저 '작동'했던 것 뿐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E86DE"/>
                </a:solidFill>
              </a:rPr>
              <a:t/>
            </a:r>
            <a:r>
              <a:rPr sz="1600" b="1">
                <a:solidFill>
                  <a:srgbClr val="1E1E2E"/>
                </a:solidFill>
                <a:latin typeface="맑은 고딕"/>
              </a:rPr>
              <a:t>▶ v3 실험이 증명: CTC는 데이터를 늘려도 37.9%에서 정체 → 모델(디코더) 축의 한계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394960"/>
            <a:ext cx="3383280" cy="1005840"/>
          </a:xfrm>
          <a:prstGeom prst="rect">
            <a:avLst/>
          </a:prstGeom>
          <a:solidFill>
            <a:srgbClr val="245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4681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CTC 37.9%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97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v3 최선 (클린)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5394960"/>
            <a:ext cx="3383280" cy="10058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54681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Attention?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5897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데이터가 있다면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5394960"/>
            <a:ext cx="3383280" cy="10058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54681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가설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5897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v3_1 실험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가설 실험 v3_1 — '진보한 디코더 + 충분한 데이터'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E86DE"/>
                </a:solidFill>
              </a:rPr>
              <a:t/>
            </a:r>
            <a:r>
              <a:rPr sz="1600" b="1">
                <a:solidFill>
                  <a:srgbClr val="1E1E2E"/>
                </a:solidFill>
                <a:latin typeface="맑은 고딕"/>
              </a:rPr>
              <a:t>가설: attention 디코더 실패의 원인은 '데이터 부족' — 데이터를 늘리면 수렴할 것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E"/>
                </a:solidFill>
              </a:rPr>
              <a:t/>
            </a:r>
            <a:r>
              <a:rPr sz="1600" b="0">
                <a:solidFill>
                  <a:srgbClr val="1E1E2E"/>
                </a:solidFill>
                <a:latin typeface="맑은 고딕"/>
              </a:rPr>
              <a:t>실험 구성 (기존의 실패 요인을 하나씩 제거):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E"/>
                </a:solidFill>
              </a:rPr>
              <a:t/>
            </a:r>
            <a:r>
              <a:rPr sz="1600" b="0">
                <a:solidFill>
                  <a:srgbClr val="1E1E2E"/>
                </a:solidFill>
                <a:latin typeface="맑은 고딕"/>
              </a:rPr>
              <a:t>  ① 데이터: v3 증강2배 (원본 4,462 + 증강 8,924 = 13,386장) — train만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E"/>
                </a:solidFill>
              </a:rPr>
              <a:t/>
            </a:r>
            <a:r>
              <a:rPr sz="1600" b="0">
                <a:solidFill>
                  <a:srgbClr val="1E1E2E"/>
                </a:solidFill>
                <a:latin typeface="맑은 고딕"/>
              </a:rPr>
              <a:t>  ② val: 클린 고정 split (1,116장) — v3와 동일 기준, 직접 비교 가능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E"/>
                </a:solidFill>
              </a:rPr>
              <a:t/>
            </a:r>
            <a:r>
              <a:rPr sz="1600" b="0">
                <a:solidFill>
                  <a:srgbClr val="1E1E2E"/>
                </a:solidFill>
                <a:latin typeface="맑은 고딕"/>
              </a:rPr>
              <a:t>  ③ 런타임 증강 OFF — 온디스크 증강과 중복 방지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E"/>
                </a:solidFill>
              </a:rPr>
              <a:t/>
            </a:r>
            <a:r>
              <a:rPr sz="1600" b="0">
                <a:solidFill>
                  <a:srgbClr val="1E1E2E"/>
                </a:solidFill>
                <a:latin typeface="맑은 고딕"/>
              </a:rPr>
              <a:t>  ④ checkpoint config 버그 수정 (hidden 384 실제값 저장)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486400"/>
            <a:ext cx="10972800" cy="822960"/>
          </a:xfrm>
          <a:prstGeom prst="rect">
            <a:avLst/>
          </a:prstGeom>
          <a:solidFill>
            <a:srgbClr val="DD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3A5C"/>
                </a:solidFill>
                <a:latin typeface="맑은 고딕"/>
              </a:rPr>
              <a:t>실행 환경: GPU1 (Max-Q)  ·  batch 40  ·  effective 160  ·  warmup+cosine  ·  teacher forcing 0.47→0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실험 결과 — attention은 CTC를 넘지 못했다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0392B"/>
                </a:solidFill>
              </a:rPr>
              <a:t/>
            </a:r>
            <a:r>
              <a:rPr sz="1600" b="1">
                <a:solidFill>
                  <a:srgbClr val="1E1E2E"/>
                </a:solidFill>
                <a:latin typeface="맑은 고딕"/>
              </a:rPr>
              <a:t>v3_1(attention+증강)도 클린 val 평가에서 FAIL — 수용기준 미충족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E"/>
                </a:solidFill>
              </a:rPr>
              <a:t/>
            </a:r>
            <a:r>
              <a:rPr sz="1600" b="0">
                <a:solidFill>
                  <a:srgbClr val="1E1E2E"/>
                </a:solidFill>
                <a:latin typeface="맑은 고딕"/>
              </a:rPr>
              <a:t>exact 30.4% / CER 38.2% — 학습 로그(argmax 43%)보다 실제 디코딩이 낮음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0392B"/>
                </a:solidFill>
              </a:rPr>
              <a:t/>
            </a:r>
            <a:r>
              <a:rPr sz="1600" b="1">
                <a:solidFill>
                  <a:srgbClr val="1E1E2E"/>
                </a:solidFill>
                <a:latin typeface="맑은 고딕"/>
              </a:rPr>
              <a:t>고빈도 54.8%는 CTC(56.5%)와 비슷, 그러나 중빈도 3.2%·저빈도 0.4%로 붕괴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6C757D"/>
                </a:solidFill>
              </a:rPr>
              <a:t/>
            </a:r>
            <a:r>
              <a:rPr sz="1600" b="0">
                <a:solidFill>
                  <a:srgbClr val="1E1E2E"/>
                </a:solidFill>
                <a:latin typeface="맑은 고딕"/>
              </a:rPr>
              <a:t>→ 많은 단어는 그럭저럭, 드문 단어는 통째로 오생성 (attention 특성)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97680"/>
            <a:ext cx="4846320" cy="1463040"/>
          </a:xfrm>
          <a:prstGeom prst="rect">
            <a:avLst/>
          </a:prstGeom>
          <a:solidFill>
            <a:srgbClr val="2E4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v3 exp2 (CTC)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AE60"/>
                </a:solidFill>
                <a:latin typeface="맑은 고딕"/>
              </a:rPr>
              <a:t>exact 37.9%  CER 20.6%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2120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ED4E0"/>
                </a:solidFill>
                <a:latin typeface="맑은 고딕"/>
              </a:rPr>
              <a:t>중빈도 33.5%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4297680"/>
            <a:ext cx="4846320" cy="1463040"/>
          </a:xfrm>
          <a:prstGeom prst="rect">
            <a:avLst/>
          </a:prstGeom>
          <a:solidFill>
            <a:srgbClr val="2E4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4389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v3_1 (Attention)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7548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맑은 고딕"/>
              </a:rPr>
              <a:t>exact 30.4%  CER 38.2%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52120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ED4E0"/>
                </a:solidFill>
                <a:latin typeface="맑은 고딕"/>
              </a:rPr>
              <a:t>중빈도  3.2%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실험의 의미 — 무엇이 검증됐나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7AE60"/>
                </a:solidFill>
              </a:rPr>
              <a:t/>
            </a:r>
            <a:r>
              <a:rPr sz="1600" b="1">
                <a:solidFill>
                  <a:srgbClr val="1E1E2E"/>
                </a:solidFill>
                <a:latin typeface="맑은 고딕"/>
              </a:rPr>
              <a:t>긍정: attention 디코더는 데이터가 커지면 수렴함 — v2.1 원본(20%) 대비 30.4%로 상승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E86DE"/>
                </a:solidFill>
              </a:rPr>
              <a:t/>
            </a:r>
            <a:r>
              <a:rPr sz="1600" b="1">
                <a:solidFill>
                  <a:srgbClr val="1E1E2E"/>
                </a:solidFill>
                <a:latin typeface="맑은 고딕"/>
              </a:rPr>
              <a:t>그러나: CTC가 여전히 실질 우위 — exact 37.9%, CER 20.6% vs attention 30.4%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E"/>
                </a:solidFill>
              </a:rPr>
              <a:t/>
            </a:r>
            <a:r>
              <a:rPr sz="1600" b="0">
                <a:solidFill>
                  <a:srgbClr val="1E1E2E"/>
                </a:solidFill>
                <a:latin typeface="맑은 고딕"/>
              </a:rPr>
              <a:t>핵심 인사이트: 디코더 선택보다, '어떤 오류가 더 치명적인가'가 중요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1E2E"/>
                </a:solidFill>
              </a:rPr>
              <a:t/>
            </a:r>
            <a:r>
              <a:rPr sz="1600" b="0">
                <a:solidFill>
                  <a:srgbClr val="1E1E2E"/>
                </a:solidFill>
                <a:latin typeface="맑은 고딕"/>
              </a:rPr>
              <a:t>  CTC는 중·저빈도도 부분 일치(중 33.5%) → CER 낮음, attention은 저빈도 전멸(0.4%) → CER 급증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0392B"/>
                </a:solidFill>
              </a:rPr>
              <a:t/>
            </a:r>
            <a:r>
              <a:rPr sz="1600" b="1">
                <a:solidFill>
                  <a:srgbClr val="1E1E2E"/>
                </a:solidFill>
                <a:latin typeface="맑은 고딕"/>
              </a:rPr>
              <a:t>결론: '데이터가 attention을 살린다'는 가설은 부분 검증, 'attention이 CTC보다 좋다'는 기각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결론 — 재현과 검증이 만든 교훈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0392B"/>
                </a:solidFill>
              </a:rPr>
              <a:t>1 </a:t>
            </a:r>
            <a:r>
              <a:rPr sz="1600" b="1">
                <a:solidFill>
                  <a:srgbClr val="1E1E2E"/>
                </a:solidFill>
                <a:latin typeface="맑은 고딕"/>
              </a:rPr>
              <a:t>검증 우선: 98.8%는 리키지 착시 — '정확도 숫자'보다 split 무결성이 먼저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E86DE"/>
                </a:solidFill>
              </a:rPr>
              <a:t>2 </a:t>
            </a:r>
            <a:r>
              <a:rPr sz="1600" b="1">
                <a:solidFill>
                  <a:srgbClr val="1E1E2E"/>
                </a:solidFill>
                <a:latin typeface="맑은 고딕"/>
              </a:rPr>
              <a:t>데이터와 모델의 관계: 증강은 CTC에서 +2.2p, attention은 학습을 살렸으나 최종 성능은 CTC 미달 — 디코더 선택이 결정적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6C757D"/>
                </a:solidFill>
              </a:rPr>
              <a:t>3 </a:t>
            </a:r>
            <a:r>
              <a:rPr sz="1600" b="1">
                <a:solidFill>
                  <a:srgbClr val="1E1E2E"/>
                </a:solidFill>
                <a:latin typeface="맑은 고딕"/>
              </a:rPr>
              <a:t>롱테일(1회 등장 64%)은 데이터량으로만 안 풀림 → 라벨 정제/도메인 지식이 다음 축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6C757D"/>
                </a:solidFill>
              </a:rPr>
              <a:t>4 </a:t>
            </a:r>
            <a:r>
              <a:rPr sz="1600" b="0">
                <a:solidFill>
                  <a:srgbClr val="1E1E2E"/>
                </a:solidFill>
                <a:latin typeface="맑은 고딕"/>
              </a:rPr>
              <a:t>야간 대학원 현실: 시간이 한정 → '검증 가능한 실험' 단위로 진행, 발표는 그 기록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맑은 고딕"/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E86DE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